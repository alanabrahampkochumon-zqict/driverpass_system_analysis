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8"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39" autoAdjust="0"/>
    <p:restoredTop sz="65783" autoAdjust="0"/>
  </p:normalViewPr>
  <p:slideViewPr>
    <p:cSldViewPr snapToGrid="0">
      <p:cViewPr varScale="1">
        <p:scale>
          <a:sx n="144" d="100"/>
          <a:sy n="144" d="100"/>
        </p:scale>
        <p:origin x="57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DriverPass needs a system that students, instructors, secretaries, and administrators can all access easily from any device. To support this, our design uses a web-based application that runs in a standard browser, so no one needs to install software. Students will be able to schedule, update, and cancel driving lessons at any time. They can also buy learning packages, which give them access to lessons, quizzes, and tutorials.</a:t>
            </a:r>
          </a:p>
          <a:p>
            <a:endParaRPr lang="en-IN" dirty="0"/>
          </a:p>
          <a:p>
            <a:r>
              <a:rPr lang="en-IN" dirty="0"/>
              <a:t>On the nonfunctional side, the system must be reliable and always available, no matter what device the user is on. To make this possible, the system is hosted on a managed cloud service, which automatically handles backups and security. This means the DriverPass team doesn’t have to worry about maintaining servers or protecting data, those functions are taken care of behind the scenes.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shows an overview of the people who use the DriverPass system and the actions they are able to perform. We identified five main user groups: students, instructors, IT administrators, the secretary, and the business owner. Each user interacts with the system in different ways that match their real responsibilities.</a:t>
            </a:r>
          </a:p>
          <a:p>
            <a:r>
              <a:rPr lang="en-IN" dirty="0"/>
              <a:t>For example, students can schedule lessons, buy packages, and review their progress. The secretary can schedule or update lessons for students. Instructors can add lesson notes and view their daily schedule. The IT administrator can reset passwords or block accounts when necessary. And the owner can review logs and manage training packages. This diagram helped us map out these needs clearly so the system supports each user in doing their daily tasks efficiently</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IN" dirty="0"/>
              <a:t>o show one of the key processes in more detail, I broke down the steps a student follows to schedule a driving lesson. The process begins when the student chooses to schedule a lesson. The system asks for the student’s details, shows available time slots, and then lets the student pick the one that works for them.</a:t>
            </a:r>
          </a:p>
          <a:p>
            <a:r>
              <a:rPr lang="en-IN" dirty="0"/>
              <a:t>Once a time is chosen, the system collects payment information. If payment goes through successfully, the lesson is booked and the student receives a confirmation. If not, the student is given the option to try again or cancel the process. This diagram helps us make sure the scheduling experience is smooth and predictable for future DriverPass students.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Because DriverPass will be accessed by many different users and will store personal information, security is a major priority. First, all communication between the user’s device and the system is protected using HTTPS encryption. This prevents data from being read or stolen during transmission.</a:t>
            </a:r>
          </a:p>
          <a:p>
            <a:r>
              <a:rPr lang="en-IN" dirty="0"/>
              <a:t>Next, instead of having the business manage servers themselves, we use a managed cloud provider. This means security patches, backups, and system maintenance are handled automatically and consistently, reducing risk. Finally, role-based access control ensures that each user only has access to the parts of the system they need. For example, students cannot see administrative logs, and instructors cannot view students' personal payment information. This layered approach keeps the system safe and trustworthy.</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2FC52-6155-1ED1-7CE2-B5F02DD88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C2D35-05F3-D475-C058-22DC99C34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8EFFC-B90E-B563-A24B-A1358F4E78F0}"/>
              </a:ext>
            </a:extLst>
          </p:cNvPr>
          <p:cNvSpPr>
            <a:spLocks noGrp="1"/>
          </p:cNvSpPr>
          <p:nvPr>
            <p:ph type="body" idx="1"/>
          </p:nvPr>
        </p:nvSpPr>
        <p:spPr/>
        <p:txBody>
          <a:bodyPr/>
          <a:lstStyle/>
          <a:p>
            <a:r>
              <a:rPr lang="en-IN" dirty="0"/>
              <a:t>Every system has some limitations, and it’s important to acknowledge them early. For this version of DriverPass, the biggest limitation is that there is no long-term update plan built into the design yet. That means any large future features or redesigns would need to be discussed and planned later.</a:t>
            </a:r>
          </a:p>
          <a:p>
            <a:r>
              <a:rPr lang="en-IN" dirty="0"/>
              <a:t>Another limitation is in the management of packages. Currently, the owner can enable or disable packages but cannot fully edit existing ones without additional engineering work. This was necessary to keep the system simple for launch, and these features can be expanded in future phases if needed.</a:t>
            </a:r>
          </a:p>
        </p:txBody>
      </p:sp>
      <p:sp>
        <p:nvSpPr>
          <p:cNvPr id="4" name="Slide Number Placeholder 3">
            <a:extLst>
              <a:ext uri="{FF2B5EF4-FFF2-40B4-BE49-F238E27FC236}">
                <a16:creationId xmlns:a16="http://schemas.microsoft.com/office/drawing/2014/main" id="{5109AC6A-B967-446A-8504-5A4A1A2E6C52}"/>
              </a:ext>
            </a:extLst>
          </p:cNvPr>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1828886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12/7/25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12/7/25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Alan Abraham Puthenparambil Kochumon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System Requirements</a:t>
            </a:r>
          </a:p>
        </p:txBody>
      </p:sp>
      <p:sp>
        <p:nvSpPr>
          <p:cNvPr id="3" name="Content Placeholder 2"/>
          <p:cNvSpPr>
            <a:spLocks noGrp="1"/>
          </p:cNvSpPr>
          <p:nvPr>
            <p:ph idx="1"/>
          </p:nvPr>
        </p:nvSpPr>
        <p:spPr>
          <a:xfrm>
            <a:off x="4810259" y="649480"/>
            <a:ext cx="6555347" cy="5546047"/>
          </a:xfrm>
        </p:spPr>
        <p:txBody>
          <a:bodyPr anchor="ctr">
            <a:normAutofit/>
          </a:bodyPr>
          <a:lstStyle/>
          <a:p>
            <a:pPr marL="0" indent="0">
              <a:buNone/>
            </a:pPr>
            <a:r>
              <a:rPr lang="en-US" sz="2000" b="1"/>
              <a:t>Functional Requirements</a:t>
            </a:r>
          </a:p>
          <a:p>
            <a:r>
              <a:rPr lang="en-US" sz="2000"/>
              <a:t>The user needs to schedule, and update a driving lesson</a:t>
            </a:r>
          </a:p>
          <a:p>
            <a:r>
              <a:rPr lang="en-US" sz="2000"/>
              <a:t>The user needs to buy packages, giving them access to lessons, and tutorials.</a:t>
            </a:r>
          </a:p>
          <a:p>
            <a:endParaRPr lang="en-US" sz="2000"/>
          </a:p>
          <a:p>
            <a:pPr marL="0" indent="0">
              <a:buNone/>
            </a:pPr>
            <a:r>
              <a:rPr lang="en-US" sz="2000" b="1"/>
              <a:t>Non-Functional Requirements</a:t>
            </a:r>
          </a:p>
          <a:p>
            <a:r>
              <a:rPr lang="en-US" sz="2000"/>
              <a:t>The system needs to be accessible from all devices</a:t>
            </a:r>
          </a:p>
          <a:p>
            <a:r>
              <a:rPr lang="en-US" sz="2000"/>
              <a:t>The system’s security and backups should be automated</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Use Case Diagram</a:t>
            </a:r>
          </a:p>
        </p:txBody>
      </p:sp>
      <p:pic>
        <p:nvPicPr>
          <p:cNvPr id="5" name="Picture 4">
            <a:extLst>
              <a:ext uri="{FF2B5EF4-FFF2-40B4-BE49-F238E27FC236}">
                <a16:creationId xmlns:a16="http://schemas.microsoft.com/office/drawing/2014/main" id="{E0F05CB4-D9E7-AD05-EDEC-FB32F4A3C441}"/>
              </a:ext>
            </a:extLst>
          </p:cNvPr>
          <p:cNvPicPr>
            <a:picLocks noChangeAspect="1"/>
          </p:cNvPicPr>
          <p:nvPr/>
        </p:nvPicPr>
        <p:blipFill>
          <a:blip r:embed="rId4"/>
          <a:stretch>
            <a:fillRect/>
          </a:stretch>
        </p:blipFill>
        <p:spPr>
          <a:xfrm>
            <a:off x="6094476" y="206209"/>
            <a:ext cx="5398586" cy="6465857"/>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Activity</a:t>
            </a:r>
            <a:br>
              <a:rPr lang="en-US" sz="4000">
                <a:solidFill>
                  <a:srgbClr val="FFFFFF"/>
                </a:solidFill>
              </a:rPr>
            </a:br>
            <a:r>
              <a:rPr lang="en-US" sz="4000">
                <a:solidFill>
                  <a:srgbClr val="FFFFFF"/>
                </a:solidFill>
              </a:rPr>
              <a:t>Diagram</a:t>
            </a:r>
          </a:p>
        </p:txBody>
      </p:sp>
      <p:pic>
        <p:nvPicPr>
          <p:cNvPr id="7" name="Content Placeholder 6">
            <a:extLst>
              <a:ext uri="{FF2B5EF4-FFF2-40B4-BE49-F238E27FC236}">
                <a16:creationId xmlns:a16="http://schemas.microsoft.com/office/drawing/2014/main" id="{8C7C9E0C-1033-0535-CDB3-963C2C1342D6}"/>
              </a:ext>
            </a:extLst>
          </p:cNvPr>
          <p:cNvPicPr>
            <a:picLocks noGrp="1" noChangeAspect="1"/>
          </p:cNvPicPr>
          <p:nvPr>
            <p:ph idx="1"/>
          </p:nvPr>
        </p:nvPicPr>
        <p:blipFill>
          <a:blip r:embed="rId4"/>
          <a:stretch>
            <a:fillRect/>
          </a:stretch>
        </p:blipFill>
        <p:spPr>
          <a:xfrm>
            <a:off x="6479869" y="511388"/>
            <a:ext cx="2774489" cy="5832089"/>
          </a:xfrm>
        </p:spPr>
      </p:pic>
    </p:spTree>
    <p:custDataLst>
      <p:tags r:id="rId1"/>
    </p:custDataLst>
    <p:extLst>
      <p:ext uri="{BB962C8B-B14F-4D97-AF65-F5344CB8AC3E}">
        <p14:creationId xmlns:p14="http://schemas.microsoft.com/office/powerpoint/2010/main" val="356405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Security</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sz="2000" dirty="0"/>
              <a:t>Use TLS/HTTPS encryption for information transport</a:t>
            </a:r>
          </a:p>
          <a:p>
            <a:r>
              <a:rPr lang="en-US" sz="2000" dirty="0"/>
              <a:t>Use managed cloud hosting so backups and security are maintained by the hosting provider</a:t>
            </a:r>
          </a:p>
          <a:p>
            <a:r>
              <a:rPr lang="en-US" sz="2000" dirty="0"/>
              <a:t>Role based Access Control</a:t>
            </a:r>
          </a:p>
        </p:txBody>
      </p:sp>
    </p:spTree>
    <p:custDataLst>
      <p:tags r:id="rId1"/>
    </p:custDataLst>
    <p:extLst>
      <p:ext uri="{BB962C8B-B14F-4D97-AF65-F5344CB8AC3E}">
        <p14:creationId xmlns:p14="http://schemas.microsoft.com/office/powerpoint/2010/main" val="37684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5E101-DBDA-6A5B-49D4-F436202C695A}"/>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B196919-CF59-6650-3A2E-94C29946D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A3EB3F8B-4A33-459B-F719-42F7C89B1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84B6F53-31EF-6EEF-E925-2B42CB76E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8C00FC4-6470-19F9-67A2-239C33C6B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6437E34-5A14-4DD0-9DE8-849C93D4B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DA445D82-9FF5-C956-8368-50254BC2A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CEDBC652-8A86-B3D9-77DD-8FA6F8085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B7B228-FBCF-1FA2-1411-409308F56059}"/>
              </a:ext>
            </a:extLst>
          </p:cNvPr>
          <p:cNvSpPr>
            <a:spLocks noGrp="1"/>
          </p:cNvSpPr>
          <p:nvPr>
            <p:ph type="title"/>
          </p:nvPr>
        </p:nvSpPr>
        <p:spPr>
          <a:xfrm>
            <a:off x="466722" y="586855"/>
            <a:ext cx="3201366" cy="3387497"/>
          </a:xfrm>
        </p:spPr>
        <p:txBody>
          <a:bodyPr anchor="b">
            <a:normAutofit/>
          </a:bodyPr>
          <a:lstStyle/>
          <a:p>
            <a:pPr algn="r"/>
            <a:r>
              <a:rPr lang="en-US" sz="4000" dirty="0">
                <a:solidFill>
                  <a:schemeClr val="bg1"/>
                </a:solidFill>
              </a:rPr>
              <a:t>System Limitations</a:t>
            </a:r>
            <a:endParaRPr lang="en-US" sz="4000" dirty="0">
              <a:solidFill>
                <a:srgbClr val="FFFFFF"/>
              </a:solidFill>
            </a:endParaRPr>
          </a:p>
        </p:txBody>
      </p:sp>
      <p:sp>
        <p:nvSpPr>
          <p:cNvPr id="3" name="Content Placeholder 2">
            <a:extLst>
              <a:ext uri="{FF2B5EF4-FFF2-40B4-BE49-F238E27FC236}">
                <a16:creationId xmlns:a16="http://schemas.microsoft.com/office/drawing/2014/main" id="{D00D8994-AF4E-8B02-4875-7DF9077C4D01}"/>
              </a:ext>
            </a:extLst>
          </p:cNvPr>
          <p:cNvSpPr>
            <a:spLocks noGrp="1"/>
          </p:cNvSpPr>
          <p:nvPr>
            <p:ph idx="1"/>
          </p:nvPr>
        </p:nvSpPr>
        <p:spPr>
          <a:xfrm>
            <a:off x="4810259" y="649480"/>
            <a:ext cx="6555347" cy="5546047"/>
          </a:xfrm>
        </p:spPr>
        <p:txBody>
          <a:bodyPr anchor="ctr">
            <a:normAutofit/>
          </a:bodyPr>
          <a:lstStyle/>
          <a:p>
            <a:r>
              <a:rPr lang="en-US" sz="2000" dirty="0">
                <a:solidFill>
                  <a:srgbClr val="000000"/>
                </a:solidFill>
              </a:rPr>
              <a:t>Lack of future plans for updates</a:t>
            </a:r>
          </a:p>
          <a:p>
            <a:r>
              <a:rPr lang="en-US" sz="2000" dirty="0">
                <a:solidFill>
                  <a:srgbClr val="000000"/>
                </a:solidFill>
              </a:rPr>
              <a:t>Inability to update existing packages (Only Disabling and Enabling Packages are available)</a:t>
            </a:r>
          </a:p>
        </p:txBody>
      </p:sp>
    </p:spTree>
    <p:custDataLst>
      <p:tags r:id="rId1"/>
    </p:custDataLst>
    <p:extLst>
      <p:ext uri="{BB962C8B-B14F-4D97-AF65-F5344CB8AC3E}">
        <p14:creationId xmlns:p14="http://schemas.microsoft.com/office/powerpoint/2010/main" val="35608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1369</TotalTime>
  <Words>782</Words>
  <Application>Microsoft Macintosh PowerPoint</Application>
  <PresentationFormat>Widescreen</PresentationFormat>
  <Paragraphs>36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Puthenparambil Kochumon, Alan</cp:lastModifiedBy>
  <cp:revision>22</cp:revision>
  <dcterms:created xsi:type="dcterms:W3CDTF">2019-10-14T02:36:52Z</dcterms:created>
  <dcterms:modified xsi:type="dcterms:W3CDTF">2025-12-07T06:06:49Z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